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7A2-4607-AE89-F64BC1A0FEC5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7A2-4607-AE89-F64BC1A0FE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Merge Sort</c:v>
                </c:pt>
                <c:pt idx="1">
                  <c:v>Bubble Sort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8727</c:v>
                </c:pt>
                <c:pt idx="1">
                  <c:v>499500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9E-2749-992F-33F51DBD26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E92BD-46A8-324A-8C93-F373F857E4E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11B6-3DEE-814C-8C14-6DDFB98A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8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clearly in two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objectives. Each one maps to an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old way with the algorithmic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has its own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why each algorithm beats the simple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logic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and space for every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modules and the two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only these two snippets; explain in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 counts were measured, so they do not depend on computer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Sort is about 57 times fewer comparisons at n = 1000.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box with a real screenshot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limitations; examiners like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to speak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in three lines,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titles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822960"/>
            <a:ext cx="10972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777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Student Expense Tracker</a:t>
            </a:r>
            <a:endParaRPr lang="en-US" sz="3800" dirty="0"/>
          </a:p>
        </p:txBody>
      </p:sp>
      <p:sp>
        <p:nvSpPr>
          <p:cNvPr id="4" name="Subtitle"/>
          <p:cNvSpPr txBox="1"/>
          <p:nvPr/>
        </p:nvSpPr>
        <p:spPr>
          <a:xfrm>
            <a:off x="777240" y="1508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9F6E4"/>
                </a:solidFill>
              </a:rPr>
              <a:t>Smart budgeting using DAA algorithms</a:t>
            </a:r>
            <a:endParaRPr lang="en-US" sz="2000" dirty="0"/>
          </a:p>
        </p:txBody>
      </p:sp>
      <p:sp>
        <p:nvSpPr>
          <p:cNvPr id="5" name="Course"/>
          <p:cNvSpPr txBox="1"/>
          <p:nvPr/>
        </p:nvSpPr>
        <p:spPr>
          <a:xfrm>
            <a:off x="777240" y="1920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Design and Analysis of Algorithms | Mini Project</a:t>
            </a:r>
            <a:endParaRPr lang="en-US" sz="1400" dirty="0"/>
          </a:p>
        </p:txBody>
      </p:sp>
      <p:graphicFrame>
        <p:nvGraphicFramePr>
          <p:cNvPr id="6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06040"/>
          <a:ext cx="5120640" cy="13898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3D3A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3D3A"/>
                          </a:solidFill>
                        </a:rPr>
                        <a:t>Enrollment No.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Tanavir Sherasiya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12402080601135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Tajim Kadivar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12402080601134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Shahejad Mathakiya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12402080601128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Institute"/>
          <p:cNvSpPr txBox="1"/>
          <p:nvPr/>
        </p:nvSpPr>
        <p:spPr>
          <a:xfrm>
            <a:off x="77724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A. D. Patel Institute of Technology | Information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Problem Definition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Students spend daily but rarely keep a proper record of expenses.</a:t>
            </a:r>
            <a:endParaRPr lang="en-US" sz="1700" dirty="0"/>
          </a:p>
        </p:txBody>
      </p:sp>
      <p:sp>
        <p:nvSpPr>
          <p:cNvPr id="7" name="Pain card 1"/>
          <p:cNvSpPr/>
          <p:nvPr/>
        </p:nvSpPr>
        <p:spPr>
          <a:xfrm>
            <a:off x="457200" y="1645920"/>
            <a:ext cx="260604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Pain top 1"/>
          <p:cNvSpPr/>
          <p:nvPr/>
        </p:nvSpPr>
        <p:spPr>
          <a:xfrm>
            <a:off x="457200" y="164592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Pain text 1"/>
          <p:cNvSpPr txBox="1"/>
          <p:nvPr/>
        </p:nvSpPr>
        <p:spPr>
          <a:xfrm>
            <a:off x="64008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A"/>
                </a:solidFill>
              </a:rPr>
              <a:t>Slow to sort expenses</a:t>
            </a:r>
            <a:endParaRPr lang="en-US" sz="1700" dirty="0"/>
          </a:p>
        </p:txBody>
      </p:sp>
      <p:sp>
        <p:nvSpPr>
          <p:cNvPr id="10" name="Pain card 2"/>
          <p:cNvSpPr/>
          <p:nvPr/>
        </p:nvSpPr>
        <p:spPr>
          <a:xfrm>
            <a:off x="3246120" y="1645920"/>
            <a:ext cx="260604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Pain top 2"/>
          <p:cNvSpPr/>
          <p:nvPr/>
        </p:nvSpPr>
        <p:spPr>
          <a:xfrm>
            <a:off x="3246120" y="164592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Pain text 2"/>
          <p:cNvSpPr txBox="1"/>
          <p:nvPr/>
        </p:nvSpPr>
        <p:spPr>
          <a:xfrm>
            <a:off x="342900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A"/>
                </a:solidFill>
              </a:rPr>
              <a:t>Hard to find a date</a:t>
            </a:r>
            <a:endParaRPr lang="en-US" sz="1700" dirty="0"/>
          </a:p>
        </p:txBody>
      </p:sp>
      <p:sp>
        <p:nvSpPr>
          <p:cNvPr id="13" name="Pain card 3"/>
          <p:cNvSpPr/>
          <p:nvPr/>
        </p:nvSpPr>
        <p:spPr>
          <a:xfrm>
            <a:off x="6035040" y="1645920"/>
            <a:ext cx="260604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Pain top 3"/>
          <p:cNvSpPr/>
          <p:nvPr/>
        </p:nvSpPr>
        <p:spPr>
          <a:xfrm>
            <a:off x="6035040" y="164592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Pain text 3"/>
          <p:cNvSpPr txBox="1"/>
          <p:nvPr/>
        </p:nvSpPr>
        <p:spPr>
          <a:xfrm>
            <a:off x="621792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A"/>
                </a:solidFill>
              </a:rPr>
              <a:t>No category view</a:t>
            </a:r>
            <a:endParaRPr lang="en-US" sz="1700" dirty="0"/>
          </a:p>
        </p:txBody>
      </p:sp>
      <p:sp>
        <p:nvSpPr>
          <p:cNvPr id="16" name="Statement box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17" name="Statement"/>
          <p:cNvSpPr txBox="1"/>
          <p:nvPr/>
        </p:nvSpPr>
        <p:spPr>
          <a:xfrm>
            <a:off x="685800" y="3108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F6E4"/>
                </a:solidFill>
              </a:rPr>
              <a:t>Problem statement</a:t>
            </a:r>
            <a:endParaRPr lang="en-US" sz="15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Design a tracker that stores expenses and uses efficient algorithms to sort, search, summarise and optimise them, with complexity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Objectives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  <p:sp>
        <p:nvSpPr>
          <p:cNvPr id="6" name="Badg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Badge num 1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Objective 1"/>
          <p:cNvSpPr txBox="1"/>
          <p:nvPr/>
        </p:nvSpPr>
        <p:spPr>
          <a:xfrm>
            <a:off x="1097280" y="10515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Store expenses (name, amount, date, category, importance)</a:t>
            </a:r>
            <a:endParaRPr lang="en-US" sz="1400" dirty="0"/>
          </a:p>
        </p:txBody>
      </p:sp>
      <p:sp>
        <p:nvSpPr>
          <p:cNvPr id="9" name="Badge 2"/>
          <p:cNvSpPr/>
          <p:nvPr/>
        </p:nvSpPr>
        <p:spPr>
          <a:xfrm>
            <a:off x="4663440" y="11430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Badge num 2"/>
          <p:cNvSpPr txBox="1"/>
          <p:nvPr/>
        </p:nvSpPr>
        <p:spPr>
          <a:xfrm>
            <a:off x="4663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Objective 2"/>
          <p:cNvSpPr txBox="1"/>
          <p:nvPr/>
        </p:nvSpPr>
        <p:spPr>
          <a:xfrm>
            <a:off x="5303520" y="10515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Sort by amount or date efficiently</a:t>
            </a:r>
            <a:endParaRPr lang="en-US" sz="1400" dirty="0"/>
          </a:p>
        </p:txBody>
      </p:sp>
      <p:sp>
        <p:nvSpPr>
          <p:cNvPr id="12" name="Badge 3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Badge num 3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Objective 3"/>
          <p:cNvSpPr txBox="1"/>
          <p:nvPr/>
        </p:nvSpPr>
        <p:spPr>
          <a:xfrm>
            <a:off x="1097280" y="19659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Search by date in logarithmic time</a:t>
            </a:r>
            <a:endParaRPr lang="en-US" sz="1400" dirty="0"/>
          </a:p>
        </p:txBody>
      </p:sp>
      <p:sp>
        <p:nvSpPr>
          <p:cNvPr id="15" name="Badge 4"/>
          <p:cNvSpPr/>
          <p:nvPr/>
        </p:nvSpPr>
        <p:spPr>
          <a:xfrm>
            <a:off x="4663440" y="2057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Badge num 4"/>
          <p:cNvSpPr txBox="1"/>
          <p:nvPr/>
        </p:nvSpPr>
        <p:spPr>
          <a:xfrm>
            <a:off x="4663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Objective 4"/>
          <p:cNvSpPr txBox="1"/>
          <p:nvPr/>
        </p:nvSpPr>
        <p:spPr>
          <a:xfrm>
            <a:off x="5303520" y="19659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Find Top-K largest expenses</a:t>
            </a:r>
            <a:endParaRPr lang="en-US" sz="1400" dirty="0"/>
          </a:p>
        </p:txBody>
      </p:sp>
      <p:sp>
        <p:nvSpPr>
          <p:cNvPr id="18" name="Badge 5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Badge num 5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Objective 5"/>
          <p:cNvSpPr txBox="1"/>
          <p:nvPr/>
        </p:nvSpPr>
        <p:spPr>
          <a:xfrm>
            <a:off x="1097280" y="28803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Category-wise totals in one pass</a:t>
            </a:r>
            <a:endParaRPr lang="en-US" sz="1400" dirty="0"/>
          </a:p>
        </p:txBody>
      </p:sp>
      <p:sp>
        <p:nvSpPr>
          <p:cNvPr id="21" name="Badge 6"/>
          <p:cNvSpPr/>
          <p:nvPr/>
        </p:nvSpPr>
        <p:spPr>
          <a:xfrm>
            <a:off x="4663440" y="2971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Badge num 6"/>
          <p:cNvSpPr txBox="1"/>
          <p:nvPr/>
        </p:nvSpPr>
        <p:spPr>
          <a:xfrm>
            <a:off x="46634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3" name="Objective 6"/>
          <p:cNvSpPr txBox="1"/>
          <p:nvPr/>
        </p:nvSpPr>
        <p:spPr>
          <a:xfrm>
            <a:off x="5303520" y="28803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Optimal budget plan using dynamic programming</a:t>
            </a:r>
            <a:endParaRPr lang="en-US" sz="1400" dirty="0"/>
          </a:p>
        </p:txBody>
      </p:sp>
      <p:sp>
        <p:nvSpPr>
          <p:cNvPr id="24" name="Badge 7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Badge num 7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6" name="Objective 7"/>
          <p:cNvSpPr txBox="1"/>
          <p:nvPr/>
        </p:nvSpPr>
        <p:spPr>
          <a:xfrm>
            <a:off x="1097280" y="37947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Analyse complexity with different input sizes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 Background / Existing Approach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4</a:t>
            </a:r>
            <a:endParaRPr lang="en-US" sz="1100" dirty="0"/>
          </a:p>
        </p:txBody>
      </p:sp>
      <p:sp>
        <p:nvSpPr>
          <p:cNvPr id="6" name="Existing panel"/>
          <p:cNvSpPr/>
          <p:nvPr/>
        </p:nvSpPr>
        <p:spPr>
          <a:xfrm>
            <a:off x="457200" y="1051560"/>
            <a:ext cx="3977640" cy="3383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Existing heading"/>
          <p:cNvSpPr txBox="1"/>
          <p:nvPr/>
        </p:nvSpPr>
        <p:spPr>
          <a:xfrm>
            <a:off x="685800" y="1161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Existing approach</a:t>
            </a:r>
            <a:endParaRPr lang="en-US" sz="1800" dirty="0"/>
          </a:p>
        </p:txBody>
      </p:sp>
      <p:sp>
        <p:nvSpPr>
          <p:cNvPr id="8" name="Existing points"/>
          <p:cNvSpPr txBox="1"/>
          <p:nvPr/>
        </p:nvSpPr>
        <p:spPr>
          <a:xfrm>
            <a:off x="685800" y="16459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Notebook, mobile notes or basic spreadsheet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Data kept in entry order, so search is O(n)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Bubble Sort style methods, O(n squared)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help to choose within a limited budget</a:t>
            </a:r>
            <a:endParaRPr lang="en-US" sz="1400" dirty="0"/>
          </a:p>
        </p:txBody>
      </p:sp>
      <p:sp>
        <p:nvSpPr>
          <p:cNvPr id="9" name="Gap panel"/>
          <p:cNvSpPr/>
          <p:nvPr/>
        </p:nvSpPr>
        <p:spPr>
          <a:xfrm>
            <a:off x="4709160" y="1051560"/>
            <a:ext cx="3977640" cy="3383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Gap heading"/>
          <p:cNvSpPr txBox="1"/>
          <p:nvPr/>
        </p:nvSpPr>
        <p:spPr>
          <a:xfrm>
            <a:off x="4937760" y="1161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Gap</a:t>
            </a:r>
            <a:endParaRPr lang="en-US" sz="1800" dirty="0"/>
          </a:p>
        </p:txBody>
      </p:sp>
      <p:sp>
        <p:nvSpPr>
          <p:cNvPr id="11" name="Gap points"/>
          <p:cNvSpPr txBox="1"/>
          <p:nvPr/>
        </p:nvSpPr>
        <p:spPr>
          <a:xfrm>
            <a:off x="4937760" y="16459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efficient algorithms behind the tool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Slow as data grows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Budget choices made by guess, not by optimisation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This project fills that gap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Proposed Approach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5</a:t>
            </a:r>
            <a:endParaRPr lang="en-US" sz="1100" dirty="0"/>
          </a:p>
        </p:txBody>
      </p:sp>
      <p:graphicFrame>
        <p:nvGraphicFramePr>
          <p:cNvPr id="6" name="Propose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Paradigm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Sort by amount or date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Merge Sort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Divide and Conquer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Search by date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Binary Search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Divide and Conquer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Top-K expenses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Max-Heap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Priority Queue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Category totals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Hashing (djb2)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Hash table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Budget planner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0/1 Knapsack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Dynamic Programming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Implementation note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</a:rPr>
              <a:t>Implemented as a web simulator using HTML, CSS and JavaScript (single file, runs in any browser).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Algorithm Selection and Justification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Selec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 chosen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Merge Sort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Always O(n log n), stable; better than Bubble Sort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Binary Search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O(log n) on sorted dates vs O(n) linear search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Max-Heap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Top-K without sorting everything: O(n + k log n)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Hashing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O(1) average update per expense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Knapsack DP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Guaranteed optimal; greedy may miss the best plan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 Pseudocode: Merge Sort and Binary Search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7</a:t>
            </a:r>
            <a:endParaRPr lang="en-US" sz="1100" dirty="0"/>
          </a:p>
        </p:txBody>
      </p:sp>
      <p:sp>
        <p:nvSpPr>
          <p:cNvPr id="6" name="Merge label"/>
          <p:cNvSpPr txBox="1"/>
          <p:nvPr/>
        </p:nvSpPr>
        <p:spPr>
          <a:xfrm>
            <a:off x="45720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Merge Sort</a:t>
            </a:r>
            <a:endParaRPr lang="en-US" sz="1500" dirty="0"/>
          </a:p>
        </p:txBody>
      </p:sp>
      <p:sp>
        <p:nvSpPr>
          <p:cNvPr id="7" name="Merge code box"/>
          <p:cNvSpPr/>
          <p:nvPr/>
        </p:nvSpPr>
        <p:spPr>
          <a:xfrm>
            <a:off x="457200" y="1325880"/>
            <a:ext cx="39776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Merge code"/>
          <p:cNvSpPr txBox="1"/>
          <p:nvPr/>
        </p:nvSpPr>
        <p:spPr>
          <a:xfrm>
            <a:off x="594360" y="141732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MERGE-SORT(A, l, 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 &gt;= r return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 = (l + r) /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MERGE-SORT(A, l, m)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MERGE-SORT(A, m+1, 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MERGE(A, l, m, r)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MERGE: compare A[i], A[j],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 smaller into 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 leftovers,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 T back to A</a:t>
            </a:r>
            <a:endParaRPr lang="en-US" sz="1400" dirty="0"/>
          </a:p>
        </p:txBody>
      </p:sp>
      <p:sp>
        <p:nvSpPr>
          <p:cNvPr id="9" name="Search label"/>
          <p:cNvSpPr txBox="1"/>
          <p:nvPr/>
        </p:nvSpPr>
        <p:spPr>
          <a:xfrm>
            <a:off x="470916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Binary Search</a:t>
            </a:r>
            <a:endParaRPr lang="en-US" sz="1500" dirty="0"/>
          </a:p>
        </p:txBody>
      </p:sp>
      <p:sp>
        <p:nvSpPr>
          <p:cNvPr id="10" name="Search code box"/>
          <p:cNvSpPr/>
          <p:nvPr/>
        </p:nvSpPr>
        <p:spPr>
          <a:xfrm>
            <a:off x="4709160" y="1325880"/>
            <a:ext cx="39776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earch code"/>
          <p:cNvSpPr txBox="1"/>
          <p:nvPr/>
        </p:nvSpPr>
        <p:spPr>
          <a:xfrm>
            <a:off x="4846320" y="141732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BINARY-SEARCH(S, target)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 = 0, high = n - 1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low &lt;= high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(low + high) /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S[mid] == target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mid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S[mid] &lt; target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low = mid + 1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high = mid - 1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NOT-FOUND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 Pseudocode: Heap, Hashing, Knapsack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8</a:t>
            </a:r>
            <a:endParaRPr lang="en-US" sz="1100" dirty="0"/>
          </a:p>
        </p:txBody>
      </p:sp>
      <p:sp>
        <p:nvSpPr>
          <p:cNvPr id="6" name="Heap label"/>
          <p:cNvSpPr txBox="1"/>
          <p:nvPr/>
        </p:nvSpPr>
        <p:spPr>
          <a:xfrm>
            <a:off x="274320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Max-Heap Top-K</a:t>
            </a:r>
            <a:endParaRPr lang="en-US" sz="1500" dirty="0"/>
          </a:p>
        </p:txBody>
      </p:sp>
      <p:sp>
        <p:nvSpPr>
          <p:cNvPr id="7" name="Heap code box"/>
          <p:cNvSpPr/>
          <p:nvPr/>
        </p:nvSpPr>
        <p:spPr>
          <a:xfrm>
            <a:off x="274320" y="1325880"/>
            <a:ext cx="28346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Heap code"/>
          <p:cNvSpPr txBox="1"/>
          <p:nvPr/>
        </p:nvSpPr>
        <p:spPr>
          <a:xfrm>
            <a:off x="411480" y="141732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max-heap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= n/2-1..0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HEAPIFY(i)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k times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H[0]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H[0] = last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= size - 1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HEAPIFY(0)</a:t>
            </a:r>
            <a:endParaRPr lang="en-US" sz="1200" dirty="0"/>
          </a:p>
        </p:txBody>
      </p:sp>
      <p:sp>
        <p:nvSpPr>
          <p:cNvPr id="9" name="Hash label"/>
          <p:cNvSpPr txBox="1"/>
          <p:nvPr/>
        </p:nvSpPr>
        <p:spPr>
          <a:xfrm>
            <a:off x="324612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Hashing</a:t>
            </a:r>
            <a:endParaRPr lang="en-US" sz="1500" dirty="0"/>
          </a:p>
        </p:txBody>
      </p:sp>
      <p:sp>
        <p:nvSpPr>
          <p:cNvPr id="10" name="Hash code box"/>
          <p:cNvSpPr/>
          <p:nvPr/>
        </p:nvSpPr>
        <p:spPr>
          <a:xfrm>
            <a:off x="3246120" y="132588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Hash code"/>
          <p:cNvSpPr txBox="1"/>
          <p:nvPr/>
        </p:nvSpPr>
        <p:spPr>
          <a:xfrm>
            <a:off x="3383280" y="14173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T[31]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expense 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= HASH(e.cat) % 31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slot used by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 key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(i + 1) % 31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T[i].total += e.amount</a:t>
            </a:r>
            <a:endParaRPr lang="en-US" sz="1200" dirty="0"/>
          </a:p>
        </p:txBody>
      </p:sp>
      <p:sp>
        <p:nvSpPr>
          <p:cNvPr id="12" name="Knap label"/>
          <p:cNvSpPr txBox="1"/>
          <p:nvPr/>
        </p:nvSpPr>
        <p:spPr>
          <a:xfrm>
            <a:off x="6035040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0/1 Knapsack</a:t>
            </a:r>
            <a:endParaRPr lang="en-US" sz="1500" dirty="0"/>
          </a:p>
        </p:txBody>
      </p:sp>
      <p:sp>
        <p:nvSpPr>
          <p:cNvPr id="13" name="Knap code box"/>
          <p:cNvSpPr/>
          <p:nvPr/>
        </p:nvSpPr>
        <p:spPr>
          <a:xfrm>
            <a:off x="6035040" y="1325880"/>
            <a:ext cx="28346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Knap code"/>
          <p:cNvSpPr txBox="1"/>
          <p:nvPr/>
        </p:nvSpPr>
        <p:spPr>
          <a:xfrm>
            <a:off x="6172200" y="141732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budget / 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1..n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w = 0..W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dp[i-1][w]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wt[i] &lt;= 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dp[i][w] = max(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dp[i][w],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dp[i-1][w-wt[i]]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+ val[i])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7. Complexity Analysis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9</a:t>
            </a:r>
            <a:endParaRPr lang="en-US" sz="1100" dirty="0"/>
          </a:p>
        </p:txBody>
      </p:sp>
      <p:graphicFrame>
        <p:nvGraphicFramePr>
          <p:cNvPr id="10" name="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8529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Worst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Merge Sort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Binary Search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Max-Heap Top-K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 + k 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 + k log 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Hashing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 x m)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O(m)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Knapsack DP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O(nW)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O(nW)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O(nW)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O(nW)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Legend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n = expenses, k = Top-K size, m = categories, W = budget / 50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8. System Design and Implementation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Module Input"/>
          <p:cNvSpPr/>
          <p:nvPr/>
        </p:nvSpPr>
        <p:spPr>
          <a:xfrm>
            <a:off x="457200" y="1097280"/>
            <a:ext cx="12801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Module text Input"/>
          <p:cNvSpPr txBox="1"/>
          <p:nvPr/>
        </p:nvSpPr>
        <p:spPr>
          <a:xfrm>
            <a:off x="45720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Module Sorting"/>
          <p:cNvSpPr/>
          <p:nvPr/>
        </p:nvSpPr>
        <p:spPr>
          <a:xfrm>
            <a:off x="1847088" y="1097280"/>
            <a:ext cx="12801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Module text Sorting"/>
          <p:cNvSpPr txBox="1"/>
          <p:nvPr/>
        </p:nvSpPr>
        <p:spPr>
          <a:xfrm>
            <a:off x="1847088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Sorting</a:t>
            </a:r>
            <a:endParaRPr lang="en-US" sz="1400" dirty="0"/>
          </a:p>
        </p:txBody>
      </p:sp>
      <p:sp>
        <p:nvSpPr>
          <p:cNvPr id="10" name="Module Search"/>
          <p:cNvSpPr/>
          <p:nvPr/>
        </p:nvSpPr>
        <p:spPr>
          <a:xfrm>
            <a:off x="3236976" y="1097280"/>
            <a:ext cx="12801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Module text Search"/>
          <p:cNvSpPr txBox="1"/>
          <p:nvPr/>
        </p:nvSpPr>
        <p:spPr>
          <a:xfrm>
            <a:off x="3236976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Search</a:t>
            </a:r>
            <a:endParaRPr lang="en-US" sz="1400" dirty="0"/>
          </a:p>
        </p:txBody>
      </p:sp>
      <p:sp>
        <p:nvSpPr>
          <p:cNvPr id="12" name="Module Heap"/>
          <p:cNvSpPr/>
          <p:nvPr/>
        </p:nvSpPr>
        <p:spPr>
          <a:xfrm>
            <a:off x="4626864" y="1097280"/>
            <a:ext cx="12801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Module text Heap"/>
          <p:cNvSpPr txBox="1"/>
          <p:nvPr/>
        </p:nvSpPr>
        <p:spPr>
          <a:xfrm>
            <a:off x="4626864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Heap</a:t>
            </a:r>
            <a:endParaRPr lang="en-US" sz="1400" dirty="0"/>
          </a:p>
        </p:txBody>
      </p:sp>
      <p:sp>
        <p:nvSpPr>
          <p:cNvPr id="14" name="Module Hashing"/>
          <p:cNvSpPr/>
          <p:nvPr/>
        </p:nvSpPr>
        <p:spPr>
          <a:xfrm>
            <a:off x="6016752" y="1097280"/>
            <a:ext cx="12801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Module text Hashing"/>
          <p:cNvSpPr txBox="1"/>
          <p:nvPr/>
        </p:nvSpPr>
        <p:spPr>
          <a:xfrm>
            <a:off x="6016752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Hashing</a:t>
            </a:r>
            <a:endParaRPr lang="en-US" sz="1400" dirty="0"/>
          </a:p>
        </p:txBody>
      </p:sp>
      <p:sp>
        <p:nvSpPr>
          <p:cNvPr id="16" name="Module Planner"/>
          <p:cNvSpPr/>
          <p:nvPr/>
        </p:nvSpPr>
        <p:spPr>
          <a:xfrm>
            <a:off x="7406640" y="1097280"/>
            <a:ext cx="12801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Module text Planner"/>
          <p:cNvSpPr txBox="1"/>
          <p:nvPr/>
        </p:nvSpPr>
        <p:spPr>
          <a:xfrm>
            <a:off x="740664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Planner</a:t>
            </a:r>
            <a:endParaRPr lang="en-US" sz="1400" dirty="0"/>
          </a:p>
        </p:txBody>
      </p:sp>
      <p:sp>
        <p:nvSpPr>
          <p:cNvPr id="18" name="Menu note"/>
          <p:cNvSpPr txBox="1"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Buttons on the page connect all modules</a:t>
            </a:r>
            <a:endParaRPr lang="en-US" sz="1300" dirty="0"/>
          </a:p>
        </p:txBody>
      </p:sp>
      <p:sp>
        <p:nvSpPr>
          <p:cNvPr id="19" name="CProg panel"/>
          <p:cNvSpPr/>
          <p:nvPr/>
        </p:nvSpPr>
        <p:spPr>
          <a:xfrm>
            <a:off x="457200" y="2377440"/>
            <a:ext cx="3977640" cy="2240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0" name="CProg heading"/>
          <p:cNvSpPr txBox="1"/>
          <p:nvPr/>
        </p:nvSpPr>
        <p:spPr>
          <a:xfrm>
            <a:off x="685800" y="2487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Front end</a:t>
            </a:r>
            <a:endParaRPr lang="en-US" sz="1800" dirty="0"/>
          </a:p>
        </p:txBody>
      </p:sp>
      <p:sp>
        <p:nvSpPr>
          <p:cNvPr id="21" name="CProg points"/>
          <p:cNvSpPr txBox="1"/>
          <p:nvPr/>
        </p:nvSpPr>
        <p:spPr>
          <a:xfrm>
            <a:off x="685800" y="297180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HTML: input boxes, buttons, sections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CSS: layout and dark/light design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Single file: expense-tracker.html</a:t>
            </a:r>
            <a:endParaRPr lang="en-US" sz="1400" dirty="0"/>
          </a:p>
        </p:txBody>
      </p:sp>
      <p:sp>
        <p:nvSpPr>
          <p:cNvPr id="22" name="Web panel"/>
          <p:cNvSpPr/>
          <p:nvPr/>
        </p:nvSpPr>
        <p:spPr>
          <a:xfrm>
            <a:off x="4709160" y="2377440"/>
            <a:ext cx="3977640" cy="22402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Web heading"/>
          <p:cNvSpPr txBox="1"/>
          <p:nvPr/>
        </p:nvSpPr>
        <p:spPr>
          <a:xfrm>
            <a:off x="4937760" y="2487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Logic (JavaScript)</a:t>
            </a:r>
            <a:endParaRPr lang="en-US" sz="1800" dirty="0"/>
          </a:p>
        </p:txBody>
      </p:sp>
      <p:sp>
        <p:nvSpPr>
          <p:cNvPr id="24" name="Web points"/>
          <p:cNvSpPr txBox="1"/>
          <p:nvPr/>
        </p:nvSpPr>
        <p:spPr>
          <a:xfrm>
            <a:off x="4937760" y="297180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All five algorithms written in JS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Expenses kept in an array of objects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Shows comparisons and search steps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8. Implementation: Key JavaScript Code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JSMerge label"/>
          <p:cNvSpPr txBox="1"/>
          <p:nvPr/>
        </p:nvSpPr>
        <p:spPr>
          <a:xfrm>
            <a:off x="45720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Merge Sort (JavaScript)</a:t>
            </a:r>
            <a:endParaRPr lang="en-US" sz="1500" dirty="0"/>
          </a:p>
        </p:txBody>
      </p:sp>
      <p:sp>
        <p:nvSpPr>
          <p:cNvPr id="7" name="JSMerge code box"/>
          <p:cNvSpPr/>
          <p:nvPr/>
        </p:nvSpPr>
        <p:spPr>
          <a:xfrm>
            <a:off x="457200" y="1325880"/>
            <a:ext cx="39776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JSMerge code"/>
          <p:cNvSpPr txBox="1"/>
          <p:nvPr/>
        </p:nvSpPr>
        <p:spPr>
          <a:xfrm>
            <a:off x="594360" y="141732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mergeSort(arr,key){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if(arr.length&lt;2) return arr;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m=arr.length&gt;&gt;1,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l=mergeSort(arr.slice(0,m),key),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r=mergeSort(arr.slice(m),key),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o=[],i=0,j=0;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while(i&lt;l.length&amp;&amp;j&lt;r.length){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cmps++;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if(l[i][key]&lt;=r[j][key])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o.push(l[i++]);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o.push(r[j++]);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o.concat(l.slice(i))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.concat(r.slice(j));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JSSearch label"/>
          <p:cNvSpPr txBox="1"/>
          <p:nvPr/>
        </p:nvSpPr>
        <p:spPr>
          <a:xfrm>
            <a:off x="470916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A"/>
                </a:solidFill>
              </a:rPr>
              <a:t>Binary Search (JavaScript)</a:t>
            </a:r>
            <a:endParaRPr lang="en-US" sz="1500" dirty="0"/>
          </a:p>
        </p:txBody>
      </p:sp>
      <p:sp>
        <p:nvSpPr>
          <p:cNvPr id="10" name="JSSearch code box"/>
          <p:cNvSpPr/>
          <p:nvPr/>
        </p:nvSpPr>
        <p:spPr>
          <a:xfrm>
            <a:off x="4709160" y="1325880"/>
            <a:ext cx="39776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JSSearch code"/>
          <p:cNvSpPr txBox="1"/>
          <p:nvPr/>
        </p:nvSpPr>
        <p:spPr>
          <a:xfrm>
            <a:off x="4846320" y="141732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lo=0, hi=S.length-1;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while(lo&lt;=hi){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m=(lo+hi)&gt;&gt;1;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if(S[m].d==t){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found=m; break;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if(S[m].d&lt;t){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lo=m+1;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hi=m-1;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 is the date-sorted copy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made with mergeSort()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9. Testing with Different Input Sizes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12</a:t>
            </a:r>
            <a:endParaRPr lang="en-US" sz="1100" dirty="0"/>
          </a:p>
        </p:txBody>
      </p:sp>
      <p:graphicFrame>
        <p:nvGraphicFramePr>
          <p:cNvPr id="13" name="Tes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Merge Sort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Bubble Sort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Binary Search steps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Knapsack cells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671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226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1,225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3,111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545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4,950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6,161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3,839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124,750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30,561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8,727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499,500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61,061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st note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Random amounts between Rs 10 and Rs 2000. Knapsack budget Rs 3000 (W = 60).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10. Results and Performance Comparison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13</a:t>
            </a:r>
            <a:endParaRPr lang="en-US" sz="1100" dirty="0"/>
          </a:p>
        </p:txBody>
      </p:sp>
      <p:sp>
        <p:nvSpPr>
          <p:cNvPr id="6" name="Chart caption"/>
          <p:cNvSpPr txBox="1"/>
          <p:nvPr/>
        </p:nvSpPr>
        <p:spPr>
          <a:xfrm>
            <a:off x="45720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Comparisons to sort n = 1000 expenses</a:t>
            </a:r>
            <a:endParaRPr lang="en-US" sz="1500" dirty="0"/>
          </a:p>
        </p:txBody>
      </p:sp>
      <p:graphicFrame>
        <p:nvGraphicFramePr>
          <p:cNvPr id="7" name="Comparison chart"/>
          <p:cNvGraphicFramePr/>
          <p:nvPr/>
        </p:nvGraphicFramePr>
        <p:xfrm>
          <a:off x="457200" y="12801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sults panel"/>
          <p:cNvSpPr/>
          <p:nvPr/>
        </p:nvSpPr>
        <p:spPr>
          <a:xfrm>
            <a:off x="5852160" y="1051560"/>
            <a:ext cx="28346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Results heading"/>
          <p:cNvSpPr txBox="1"/>
          <p:nvPr/>
        </p:nvSpPr>
        <p:spPr>
          <a:xfrm>
            <a:off x="6080760" y="1161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Key results</a:t>
            </a:r>
            <a:endParaRPr lang="en-US" sz="1800" dirty="0"/>
          </a:p>
        </p:txBody>
      </p:sp>
      <p:sp>
        <p:nvSpPr>
          <p:cNvPr id="10" name="Results points"/>
          <p:cNvSpPr txBox="1"/>
          <p:nvPr/>
        </p:nvSpPr>
        <p:spPr>
          <a:xfrm>
            <a:off x="6080760" y="16459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Binary Search: only 10 steps for 1000 items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Knapsack plan: importance 28 within Rs 3000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More than one optimal plan can exist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11. Screenshots of Working Project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14</a:t>
            </a:r>
            <a:endParaRPr lang="en-US" sz="1100" dirty="0"/>
          </a:p>
        </p:txBody>
      </p:sp>
      <p:sp>
        <p:nvSpPr>
          <p:cNvPr id="6" name="Screenshot box 1"/>
          <p:cNvSpPr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solidFill>
            <a:srgbClr val="F0FDFA"/>
          </a:solidFill>
          <a:ln w="15875">
            <a:solidFill>
              <a:srgbClr val="0D9488"/>
            </a:solidFill>
            <a:prstDash val="dash"/>
          </a:ln>
        </p:spPr>
      </p:sp>
      <p:sp>
        <p:nvSpPr>
          <p:cNvPr id="7" name="Screenshot label 1"/>
          <p:cNvSpPr txBox="1"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Insert screenshot</a:t>
            </a:r>
            <a:endParaRPr lang="en-US" sz="13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3D3A"/>
                </a:solidFill>
              </a:rPr>
              <a:t>Simulator home: add expense</a:t>
            </a:r>
            <a:endParaRPr lang="en-US" sz="1300" dirty="0"/>
          </a:p>
        </p:txBody>
      </p:sp>
      <p:sp>
        <p:nvSpPr>
          <p:cNvPr id="8" name="Screenshot box 2"/>
          <p:cNvSpPr/>
          <p:nvPr/>
        </p:nvSpPr>
        <p:spPr>
          <a:xfrm>
            <a:off x="4663440" y="1051560"/>
            <a:ext cx="4023360" cy="1645920"/>
          </a:xfrm>
          <a:prstGeom prst="rect">
            <a:avLst/>
          </a:prstGeom>
          <a:solidFill>
            <a:srgbClr val="F0FDFA"/>
          </a:solidFill>
          <a:ln w="15875">
            <a:solidFill>
              <a:srgbClr val="0D9488"/>
            </a:solidFill>
            <a:prstDash val="dash"/>
          </a:ln>
        </p:spPr>
      </p:sp>
      <p:sp>
        <p:nvSpPr>
          <p:cNvPr id="9" name="Screenshot label 2"/>
          <p:cNvSpPr txBox="1"/>
          <p:nvPr/>
        </p:nvSpPr>
        <p:spPr>
          <a:xfrm>
            <a:off x="4663440" y="10515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Insert screenshot</a:t>
            </a:r>
            <a:endParaRPr lang="en-US" sz="13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3D3A"/>
                </a:solidFill>
              </a:rPr>
              <a:t>Merge Sort and Binary Search</a:t>
            </a:r>
            <a:endParaRPr lang="en-US" sz="1300" dirty="0"/>
          </a:p>
        </p:txBody>
      </p:sp>
      <p:sp>
        <p:nvSpPr>
          <p:cNvPr id="10" name="Screenshot box 3"/>
          <p:cNvSpPr/>
          <p:nvPr/>
        </p:nvSpPr>
        <p:spPr>
          <a:xfrm>
            <a:off x="457200" y="2880360"/>
            <a:ext cx="4023360" cy="1645920"/>
          </a:xfrm>
          <a:prstGeom prst="rect">
            <a:avLst/>
          </a:prstGeom>
          <a:solidFill>
            <a:srgbClr val="F0FDFA"/>
          </a:solidFill>
          <a:ln w="15875">
            <a:solidFill>
              <a:srgbClr val="0D9488"/>
            </a:solidFill>
            <a:prstDash val="dash"/>
          </a:ln>
        </p:spPr>
      </p:sp>
      <p:sp>
        <p:nvSpPr>
          <p:cNvPr id="11" name="Screenshot label 3"/>
          <p:cNvSpPr txBox="1"/>
          <p:nvPr/>
        </p:nvSpPr>
        <p:spPr>
          <a:xfrm>
            <a:off x="457200" y="28803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Insert screenshot</a:t>
            </a:r>
            <a:endParaRPr lang="en-US" sz="13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3D3A"/>
                </a:solidFill>
              </a:rPr>
              <a:t>Top-K and category totals</a:t>
            </a:r>
            <a:endParaRPr lang="en-US" sz="1300" dirty="0"/>
          </a:p>
        </p:txBody>
      </p:sp>
      <p:sp>
        <p:nvSpPr>
          <p:cNvPr id="12" name="Screenshot box 4"/>
          <p:cNvSpPr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solidFill>
            <a:srgbClr val="F0FDFA"/>
          </a:solidFill>
          <a:ln w="15875">
            <a:solidFill>
              <a:srgbClr val="0D9488"/>
            </a:solidFill>
            <a:prstDash val="dash"/>
          </a:ln>
        </p:spPr>
      </p:sp>
      <p:sp>
        <p:nvSpPr>
          <p:cNvPr id="13" name="Screenshot label 4"/>
          <p:cNvSpPr txBox="1"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Insert screenshot</a:t>
            </a:r>
            <a:endParaRPr lang="en-US" sz="13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3D3A"/>
                </a:solidFill>
              </a:rPr>
              <a:t>Knapsack budget planner</a:t>
            </a:r>
            <a:endParaRPr lang="en-US" sz="1300" dirty="0"/>
          </a:p>
        </p:txBody>
      </p:sp>
      <p:pic>
        <p:nvPicPr>
          <p:cNvPr id="14" name="Picture 13" descr="A white box with a black line&#10;&#10;Description automatically generated with medium confidence">
            <a:extLst>
              <a:ext uri="{FF2B5EF4-FFF2-40B4-BE49-F238E27FC236}">
                <a16:creationId xmlns:a16="http://schemas.microsoft.com/office/drawing/2014/main" id="{913F97C8-A129-B3FD-03AB-558C70696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057275"/>
            <a:ext cx="4023360" cy="1640205"/>
          </a:xfrm>
          <a:prstGeom prst="rect">
            <a:avLst/>
          </a:prstGeom>
        </p:spPr>
      </p:pic>
      <p:pic>
        <p:nvPicPr>
          <p:cNvPr id="16" name="Picture 15" descr="A screenshot of a computer">
            <a:extLst>
              <a:ext uri="{FF2B5EF4-FFF2-40B4-BE49-F238E27FC236}">
                <a16:creationId xmlns:a16="http://schemas.microsoft.com/office/drawing/2014/main" id="{591FF0C3-2A20-E95E-1BB2-A895B3C77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4" y="1043153"/>
            <a:ext cx="3971925" cy="1701185"/>
          </a:xfrm>
          <a:prstGeom prst="rect">
            <a:avLst/>
          </a:prstGeom>
        </p:spPr>
      </p:pic>
      <p:pic>
        <p:nvPicPr>
          <p:cNvPr id="18" name="Picture 17" descr="A green and white rectangle">
            <a:extLst>
              <a:ext uri="{FF2B5EF4-FFF2-40B4-BE49-F238E27FC236}">
                <a16:creationId xmlns:a16="http://schemas.microsoft.com/office/drawing/2014/main" id="{6FEA6E77-8358-1272-485F-AB0CBE8A3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2860048"/>
            <a:ext cx="3971924" cy="1757672"/>
          </a:xfrm>
          <a:prstGeom prst="rect">
            <a:avLst/>
          </a:prstGeom>
        </p:spPr>
      </p:pic>
      <p:pic>
        <p:nvPicPr>
          <p:cNvPr id="20" name="Picture 19" descr="A screenshot of a computer">
            <a:extLst>
              <a:ext uri="{FF2B5EF4-FFF2-40B4-BE49-F238E27FC236}">
                <a16:creationId xmlns:a16="http://schemas.microsoft.com/office/drawing/2014/main" id="{49B12ED9-5FCF-C97B-7AE8-F7EF1AB6A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843213"/>
            <a:ext cx="4153376" cy="16830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12. Advantages and Limitations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15</a:t>
            </a:r>
            <a:endParaRPr lang="en-US" sz="1100" dirty="0"/>
          </a:p>
        </p:txBody>
      </p:sp>
      <p:sp>
        <p:nvSpPr>
          <p:cNvPr id="6" name="Adv panel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Adv heading"/>
          <p:cNvSpPr txBox="1"/>
          <p:nvPr/>
        </p:nvSpPr>
        <p:spPr>
          <a:xfrm>
            <a:off x="685800" y="1161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8" name="Adv points"/>
          <p:cNvSpPr txBox="1"/>
          <p:nvPr/>
        </p:nvSpPr>
        <p:spPr>
          <a:xfrm>
            <a:off x="685800" y="16459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Efficient algorithm for every feature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Guaranteed O(n log n) sorting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Very fast date lookup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Optimal budget plan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Runs in any browser, no install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Shows comparison counts and steps</a:t>
            </a:r>
            <a:endParaRPr lang="en-US" sz="1400" dirty="0"/>
          </a:p>
        </p:txBody>
      </p:sp>
      <p:sp>
        <p:nvSpPr>
          <p:cNvPr id="9" name="Lim panel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Lim heading"/>
          <p:cNvSpPr txBox="1"/>
          <p:nvPr/>
        </p:nvSpPr>
        <p:spPr>
          <a:xfrm>
            <a:off x="4937760" y="1161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D3A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1" name="Lim points"/>
          <p:cNvSpPr txBox="1"/>
          <p:nvPr/>
        </p:nvSpPr>
        <p:spPr>
          <a:xfrm>
            <a:off x="4937760" y="16459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Data is lost on page refresh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database or user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Single user, one browser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Amounts rounded to Rs 50 in DP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Very large data limited by browser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charts yet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13. Future Scope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16</a:t>
            </a:r>
            <a:endParaRPr lang="en-US" sz="1100" dirty="0"/>
          </a:p>
        </p:txBody>
      </p:sp>
      <p:sp>
        <p:nvSpPr>
          <p:cNvPr id="6" name="Future card 1"/>
          <p:cNvSpPr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Future accent 1"/>
          <p:cNvSpPr/>
          <p:nvPr/>
        </p:nvSpPr>
        <p:spPr>
          <a:xfrm>
            <a:off x="457200" y="1097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Future text 1"/>
          <p:cNvSpPr txBox="1"/>
          <p:nvPr/>
        </p:nvSpPr>
        <p:spPr>
          <a:xfrm>
            <a:off x="73152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Save data in a database or local storage</a:t>
            </a:r>
            <a:endParaRPr lang="en-US" sz="1500" dirty="0"/>
          </a:p>
        </p:txBody>
      </p:sp>
      <p:sp>
        <p:nvSpPr>
          <p:cNvPr id="9" name="Future card 2"/>
          <p:cNvSpPr/>
          <p:nvPr/>
        </p:nvSpPr>
        <p:spPr>
          <a:xfrm>
            <a:off x="4663440" y="1097280"/>
            <a:ext cx="402336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Future accent 2"/>
          <p:cNvSpPr/>
          <p:nvPr/>
        </p:nvSpPr>
        <p:spPr>
          <a:xfrm>
            <a:off x="4663440" y="1097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Future text 2"/>
          <p:cNvSpPr txBox="1"/>
          <p:nvPr/>
        </p:nvSpPr>
        <p:spPr>
          <a:xfrm>
            <a:off x="493776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Mobile app with cloud sync</a:t>
            </a:r>
            <a:endParaRPr lang="en-US" sz="1500" dirty="0"/>
          </a:p>
        </p:txBody>
      </p:sp>
      <p:sp>
        <p:nvSpPr>
          <p:cNvPr id="12" name="Future card 3"/>
          <p:cNvSpPr/>
          <p:nvPr/>
        </p:nvSpPr>
        <p:spPr>
          <a:xfrm>
            <a:off x="457200" y="2240280"/>
            <a:ext cx="402336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Future accent 3"/>
          <p:cNvSpPr/>
          <p:nvPr/>
        </p:nvSpPr>
        <p:spPr>
          <a:xfrm>
            <a:off x="457200" y="2240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Future text 3"/>
          <p:cNvSpPr txBox="1"/>
          <p:nvPr/>
        </p:nvSpPr>
        <p:spPr>
          <a:xfrm>
            <a:off x="731520" y="2240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Weekly and monthly charts</a:t>
            </a:r>
            <a:endParaRPr lang="en-US" sz="1500" dirty="0"/>
          </a:p>
        </p:txBody>
      </p:sp>
      <p:sp>
        <p:nvSpPr>
          <p:cNvPr id="15" name="Future card 4"/>
          <p:cNvSpPr/>
          <p:nvPr/>
        </p:nvSpPr>
        <p:spPr>
          <a:xfrm>
            <a:off x="4663440" y="2240280"/>
            <a:ext cx="402336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Future accent 4"/>
          <p:cNvSpPr/>
          <p:nvPr/>
        </p:nvSpPr>
        <p:spPr>
          <a:xfrm>
            <a:off x="4663440" y="2240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Future text 4"/>
          <p:cNvSpPr txBox="1"/>
          <p:nvPr/>
        </p:nvSpPr>
        <p:spPr>
          <a:xfrm>
            <a:off x="4937760" y="2240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Alerts when a category crosses its limit</a:t>
            </a:r>
            <a:endParaRPr lang="en-US" sz="1500" dirty="0"/>
          </a:p>
        </p:txBody>
      </p:sp>
      <p:sp>
        <p:nvSpPr>
          <p:cNvPr id="18" name="Future card 5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Future accent 5"/>
          <p:cNvSpPr/>
          <p:nvPr/>
        </p:nvSpPr>
        <p:spPr>
          <a:xfrm>
            <a:off x="457200" y="3383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Future text 5"/>
          <p:cNvSpPr txBox="1"/>
          <p:nvPr/>
        </p:nvSpPr>
        <p:spPr>
          <a:xfrm>
            <a:off x="73152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Import UPI or bank history</a:t>
            </a:r>
            <a:endParaRPr lang="en-US" sz="1500" dirty="0"/>
          </a:p>
        </p:txBody>
      </p:sp>
      <p:sp>
        <p:nvSpPr>
          <p:cNvPr id="21" name="Future card 6"/>
          <p:cNvSpPr/>
          <p:nvPr/>
        </p:nvSpPr>
        <p:spPr>
          <a:xfrm>
            <a:off x="4663440" y="3383280"/>
            <a:ext cx="402336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2" name="Future accent 6"/>
          <p:cNvSpPr/>
          <p:nvPr/>
        </p:nvSpPr>
        <p:spPr>
          <a:xfrm>
            <a:off x="4663440" y="3383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Future text 6"/>
          <p:cNvSpPr txBox="1"/>
          <p:nvPr/>
        </p:nvSpPr>
        <p:spPr>
          <a:xfrm>
            <a:off x="493776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Balanced tree or hash map for large data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14. Conclusion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17</a:t>
            </a:r>
            <a:endParaRPr lang="en-US" sz="1100" dirty="0"/>
          </a:p>
        </p:txBody>
      </p:sp>
      <p:sp>
        <p:nvSpPr>
          <p:cNvPr id="6" name="Conclusion box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7" name="Conclusion text"/>
          <p:cNvSpPr txBox="1"/>
          <p:nvPr/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Five DAA algorithms solve real student problems.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Tests confirm theory: Merge Sort grows as n log n, Bubble Sort as n squared.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Dynamic programming gives an optimal budget plan instead of a guess.</a:t>
            </a:r>
            <a:endParaRPr lang="en-US" sz="1800" dirty="0"/>
          </a:p>
        </p:txBody>
      </p:sp>
      <p:sp>
        <p:nvSpPr>
          <p:cNvPr id="8" name="Thanks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Thank you! Questions?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097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15. References</a:t>
            </a:r>
            <a:endParaRPr lang="en-US" sz="2400" dirty="0"/>
          </a:p>
        </p:txBody>
      </p:sp>
      <p:sp>
        <p:nvSpPr>
          <p:cNvPr id="4" name="Slide number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18</a:t>
            </a:r>
            <a:endParaRPr lang="en-US" sz="1100" dirty="0"/>
          </a:p>
        </p:txBody>
      </p:sp>
      <p:sp>
        <p:nvSpPr>
          <p:cNvPr id="6" name="References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T. H. Cormen, C. E. Leiserson, R. L. Rivest, C. Stein, Introduction to Algorithms, MIT Press.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A. Levitin, Introduction to the Design and Analysis of Algorithms, Pearson.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E. Horowitz, S. Sahni, S. Rajasekaran, Fundamentals of Computer Algorithms, Universities Press.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B. W. Kernighan, D. M. Ritchie, The C Programming Language, Prentice Hall.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F2937"/>
                </a:solidFill>
              </a:rPr>
              <a:t>DAA course notes, A. D. Patel Institute of Technology.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enseTrackerReport">
  <a:themeElements>
    <a:clrScheme name="ExpenseTrackerReport">
      <a:dk1>
        <a:srgbClr val="1F2937"/>
      </a:dk1>
      <a:lt1>
        <a:srgbClr val="FFFFFF"/>
      </a:lt1>
      <a:dk2>
        <a:srgbClr val="0F3D3A"/>
      </a:dk2>
      <a:lt2>
        <a:srgbClr val="F0FDFA"/>
      </a:lt2>
      <a:accent1>
        <a:srgbClr val="0D9488"/>
      </a:accent1>
      <a:accent2>
        <a:srgbClr val="F59E0B"/>
      </a:accent2>
      <a:accent3>
        <a:srgbClr val="6366F1"/>
      </a:accent3>
      <a:accent4>
        <a:srgbClr val="EF4444"/>
      </a:accent4>
      <a:accent5>
        <a:srgbClr val="10B981"/>
      </a:accent5>
      <a:accent6>
        <a:srgbClr val="64748B"/>
      </a:accent6>
      <a:hlink>
        <a:srgbClr val="0D9488"/>
      </a:hlink>
      <a:folHlink>
        <a:srgbClr val="64748B"/>
      </a:folHlink>
    </a:clrScheme>
    <a:fontScheme name="ExpenseTrackerRepo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1733</Words>
  <Application>Microsoft Office PowerPoint</Application>
  <PresentationFormat>On-screen Show (16:9)</PresentationFormat>
  <Paragraphs>342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ExpenseTrackerReport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Expense Tracker - DAA Mini Project</dc:title>
  <dc:subject>PptxGenJS Presentation</dc:subject>
  <dc:creator>PptxGenJS</dc:creator>
  <cp:lastModifiedBy>Tanavir Sherasiya</cp:lastModifiedBy>
  <cp:revision>3</cp:revision>
  <dcterms:created xsi:type="dcterms:W3CDTF">2026-10-26T05:01:52Z</dcterms:created>
  <dcterms:modified xsi:type="dcterms:W3CDTF">2026-10-26T05:35:57Z</dcterms:modified>
</cp:coreProperties>
</file>